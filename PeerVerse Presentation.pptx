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8" r:id="rId10"/>
    <p:sldId id="266" r:id="rId11"/>
    <p:sldId id="276" r:id="rId12"/>
    <p:sldId id="277" r:id="rId13"/>
    <p:sldId id="269" r:id="rId14"/>
    <p:sldId id="270" r:id="rId15"/>
  </p:sldIdLst>
  <p:sldSz cx="9144000" cy="6858000" type="screen4x3"/>
  <p:notesSz cx="9144000" cy="6858000"/>
  <p:embeddedFontLst>
    <p:embeddedFont>
      <p:font typeface="Century Schoolbook" panose="02040604050505020304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OVH9OKIloEnpKwoxOmm6O75Zk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A21479-E3AD-43A3-9D4B-2359635E5094}">
  <a:tblStyle styleId="{38A21479-E3AD-43A3-9D4B-2359635E509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5" autoAdjust="0"/>
    <p:restoredTop sz="94660"/>
  </p:normalViewPr>
  <p:slideViewPr>
    <p:cSldViewPr snapToGrid="0">
      <p:cViewPr>
        <p:scale>
          <a:sx n="75" d="100"/>
          <a:sy n="75" d="100"/>
        </p:scale>
        <p:origin x="2248" y="23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cc8714c89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g5cc8714c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9" name="Google Shape;1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cc8714c89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5cc8714c89_2_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>
            <a:spLocks noGrp="1"/>
          </p:cNvSpPr>
          <p:nvPr>
            <p:ph type="ctrTitle"/>
          </p:nvPr>
        </p:nvSpPr>
        <p:spPr>
          <a:xfrm>
            <a:off x="803554" y="214706"/>
            <a:ext cx="753689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5816578"/>
            <a:ext cx="1062142" cy="104141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006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7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1280160" y="5943053"/>
            <a:ext cx="7496601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MITSoC,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514600" y="3840480"/>
            <a:ext cx="373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9762" marR="0" lvl="0" indent="-5191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xfrm>
            <a:off x="267299" y="1411514"/>
            <a:ext cx="8609400" cy="19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u="sng" dirty="0" err="1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PeerVerse</a:t>
            </a:r>
            <a:r>
              <a:rPr lang="en-US" sz="3600" b="1" u="sng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– A Peer-to-Peer Mentorship Platform Using Modern Web Technologies.</a:t>
            </a:r>
            <a:br>
              <a:rPr lang="en-US" sz="3600" b="1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823649" y="3148148"/>
            <a:ext cx="74967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MITU22BTCS0484 :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Ninad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Khopade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MITU22BTCS1024 : Yash Bhardwaj</a:t>
            </a:r>
          </a:p>
          <a:p>
            <a:pPr algn="ctr">
              <a:buSzPts val="1600"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MITU2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2BTCS0799 :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Shriyanshi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Jain</a:t>
            </a:r>
          </a:p>
          <a:p>
            <a:pPr algn="ctr">
              <a:buSzPts val="1600"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MITU22BTCSD033 : Madhusudan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Ladda</a:t>
            </a: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600"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6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sz="16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Prof.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Mayuresh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Gulame</a:t>
            </a: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2492734" y="563609"/>
            <a:ext cx="415853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cc8714c89_0_4"/>
          <p:cNvSpPr txBox="1">
            <a:spLocks noGrp="1"/>
          </p:cNvSpPr>
          <p:nvPr>
            <p:ph type="title"/>
          </p:nvPr>
        </p:nvSpPr>
        <p:spPr>
          <a:xfrm>
            <a:off x="499927" y="129141"/>
            <a:ext cx="693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dirty="0">
              <a:solidFill>
                <a:srgbClr val="073763"/>
              </a:solidFill>
            </a:endParaRPr>
          </a:p>
        </p:txBody>
      </p:sp>
      <p:sp>
        <p:nvSpPr>
          <p:cNvPr id="57" name="Google Shape;57;g5cc8714c89_0_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8" name="Google Shape;58;g5cc8714c89_0_4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g5cc8714c89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5cc8714c89_0_4"/>
          <p:cNvSpPr txBox="1"/>
          <p:nvPr/>
        </p:nvSpPr>
        <p:spPr>
          <a:xfrm>
            <a:off x="255745" y="781972"/>
            <a:ext cx="8632510" cy="468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Proposed in Project Phase I</a:t>
            </a: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368300" algn="just"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of module completion in Project Phase I</a:t>
            </a: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Proposed for project phase II</a:t>
            </a:r>
            <a:endParaRPr lang="en-US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roject Development Plan</a:t>
            </a:r>
            <a:endParaRPr lang="en-US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endParaRPr lang="en-US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of Project Publication, </a:t>
            </a:r>
            <a:r>
              <a:rPr lang="en-U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IPR,etc</a:t>
            </a: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lang="en-US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89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155967" y="24582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-US" sz="2200" b="0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324D5B-1175-D180-5A69-01E81A6CC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967" y="6192210"/>
            <a:ext cx="86021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A3945-C32C-F817-2EF2-DB7C147D83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7107" y="2686901"/>
            <a:ext cx="80103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1104ED9-385B-C15B-137F-DE9D87E8D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967" y="457123"/>
            <a:ext cx="868118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Project Name: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PeerVerse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Peer-to-Peer Mentorship Platform Using Modern Web Technologies.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Key Features: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mentorship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WebRTC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messaging and session management via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Serverless, scalable architecture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 backend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mentorship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Equitable revenue sharing (70% mentor, 30% platform).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Processing Unit: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frontend for responsive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backend hosted on Railway for scalable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Neon PostgreSQL database for serverless, auto-scaling data management.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User Interface: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 web dashboard for mentor–mentee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scheduling and rating features for both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 and community discussion section for continued engagement.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Functionality: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mentor–mentee matching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and chat during mentorship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integration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analytics and session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135466" y="126643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lang="en-US" sz="2200" b="0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1379346" y="6104088"/>
            <a:ext cx="73788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/>
          <p:nvPr/>
        </p:nvSpPr>
        <p:spPr>
          <a:xfrm>
            <a:off x="135466" y="722108"/>
            <a:ext cx="80889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mentorship systems are often constrained by cost, accessibility, and scalability. Traditional counseling services require substantial financial investment and scheduling effort, which limits their reach among students and early-career professionals. Additionally, many available mentorship programs lack a robust digital infrastructure capable of real-time communication and seamless interaction. There is a strong need for a system that ensures affordable, technology-enabled, and relatable mentorship opportunities that can operate effectively across different geographical regions.</a:t>
            </a:r>
          </a:p>
        </p:txBody>
      </p:sp>
      <p:sp>
        <p:nvSpPr>
          <p:cNvPr id="80" name="Google Shape;80;p6"/>
          <p:cNvSpPr txBox="1"/>
          <p:nvPr/>
        </p:nvSpPr>
        <p:spPr>
          <a:xfrm>
            <a:off x="198936" y="2555665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r>
              <a:rPr lang="en-US" sz="2200" b="0" i="0" u="none" strike="noStrike" cap="none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4096D9C-4FCF-57FA-1EDD-887052239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6" y="3133765"/>
            <a:ext cx="875814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WebRTC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Socket.IO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low-latency video and text communication.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serverless cloud architecture ensuring cost-efficiency and automatic scaling.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easy-to-use dashboard for users to schedule sessions, make payments, and exchange feedback.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promote a digital community for continuous learning and professional growth.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peer-to-peer mentorship platform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enables meaningful, affordable, and real-time interactions.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reliable system that can be adapted for academic, career, and skill-based mentorship.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6" name="Google Shape;86;p8"/>
          <p:cNvSpPr txBox="1"/>
          <p:nvPr/>
        </p:nvSpPr>
        <p:spPr>
          <a:xfrm>
            <a:off x="164468" y="290718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2800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Modules Proposed in Project Phase I</a:t>
            </a:r>
            <a:endParaRPr lang="en-US" sz="2800" b="1" i="0" u="none" strike="noStrike" cap="none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MITSoE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CCC448-AA8C-DE0A-7DCC-56569CA43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30" y="1294718"/>
            <a:ext cx="3616696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 System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Mentor and Mentee Profile Management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Mentor-Mentee Matching System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&amp; Messaging System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 Scheduling System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Calling Module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Integration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4" name="Google Shape;104;p7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MITSoE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6;p8">
            <a:extLst>
              <a:ext uri="{FF2B5EF4-FFF2-40B4-BE49-F238E27FC236}">
                <a16:creationId xmlns:a16="http://schemas.microsoft.com/office/drawing/2014/main" id="{5C8EF700-DDD1-F3C4-E293-A1889D060C87}"/>
              </a:ext>
            </a:extLst>
          </p:cNvPr>
          <p:cNvSpPr txBox="1"/>
          <p:nvPr/>
        </p:nvSpPr>
        <p:spPr>
          <a:xfrm>
            <a:off x="389236" y="389718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2800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Status of Modules Completed in Project Phase I</a:t>
            </a:r>
            <a:endParaRPr sz="2800" b="1" i="0" u="none" strike="noStrike" cap="none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FF7ADAE-C37F-32CD-1C6E-FDD0E142B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27" y="1223757"/>
            <a:ext cx="435247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Authentication –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 –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&amp; Messaging System –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Video Calling –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UI –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Session Scheduling –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Integration –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 –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14" name="Google Shape;114;p10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6;p8">
            <a:extLst>
              <a:ext uri="{FF2B5EF4-FFF2-40B4-BE49-F238E27FC236}">
                <a16:creationId xmlns:a16="http://schemas.microsoft.com/office/drawing/2014/main" id="{A9E95D7F-B93F-0ACC-2201-28EC50FAD507}"/>
              </a:ext>
            </a:extLst>
          </p:cNvPr>
          <p:cNvSpPr txBox="1"/>
          <p:nvPr/>
        </p:nvSpPr>
        <p:spPr>
          <a:xfrm>
            <a:off x="268873" y="519691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2800"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Modules Proposed for Project Phase II</a:t>
            </a:r>
            <a:endParaRPr lang="en-US" sz="2800" b="1" i="0" u="none" strike="noStrike" cap="none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0EA9EF8-EAD2-ECAC-4786-84DC90F88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059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039795-1DD3-B0E9-1222-A7F818F76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27" y="1665600"/>
            <a:ext cx="387798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AI-based Mentor Recommendation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Analytics &amp; Reporting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Multilingual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Career Guidance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Community Discussion Forum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Certification &amp; Feedback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23" name="Google Shape;123;p11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6;p8">
            <a:extLst>
              <a:ext uri="{FF2B5EF4-FFF2-40B4-BE49-F238E27FC236}">
                <a16:creationId xmlns:a16="http://schemas.microsoft.com/office/drawing/2014/main" id="{A37035FD-A9B0-222F-AE74-D0AC912F2626}"/>
              </a:ext>
            </a:extLst>
          </p:cNvPr>
          <p:cNvSpPr txBox="1"/>
          <p:nvPr/>
        </p:nvSpPr>
        <p:spPr>
          <a:xfrm>
            <a:off x="65964" y="150441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2800"/>
            </a:pPr>
            <a:r>
              <a:rPr lang="en-IN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Project Development Plan</a:t>
            </a:r>
            <a:endParaRPr sz="2800" b="1" i="0" u="none" strike="noStrike" cap="none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E85A7A1-9AB9-0D3D-EAF9-767BC7024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4" y="821957"/>
            <a:ext cx="873569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 includes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analysis, system design, development, and iterative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improvement.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survey of 500+ students and professionals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helped identify the key challenges in mentorship accessibility and engagement.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web technologies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React.js for frontend, Express.js for backend, and PostgreSQL for secure data storage.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concept is based 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peer mentorship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where individuals with shared experiences guide and support each other.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flexibility, adaptability, and rapid feedback integration.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 is achieved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WebRTC (media stream)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video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Socket.IO (data signaling)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synchronization.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Focuses 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optimization, data privacy, and seamless deployment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serverless architecture tools.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analytics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assess mentorship effectiveness and provide personalized mentor suggestions.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code architecture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simplify updates, maintenance, and scalability for future platform expansion.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5cc8714c89_2_3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0" name="Google Shape;160;g5cc8714c89_2_35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g5cc8714c89_2_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6;p8">
            <a:extLst>
              <a:ext uri="{FF2B5EF4-FFF2-40B4-BE49-F238E27FC236}">
                <a16:creationId xmlns:a16="http://schemas.microsoft.com/office/drawing/2014/main" id="{8A4E249E-A71A-C9FD-D25E-BFA27ACE32D9}"/>
              </a:ext>
            </a:extLst>
          </p:cNvPr>
          <p:cNvSpPr txBox="1"/>
          <p:nvPr/>
        </p:nvSpPr>
        <p:spPr>
          <a:xfrm>
            <a:off x="269035" y="264315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2800"/>
            </a:pPr>
            <a:r>
              <a:rPr lang="en-IN" sz="2800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Status of Paper Publication, IPR, etc.</a:t>
            </a:r>
            <a:endParaRPr sz="2800" b="1" i="0" u="none" strike="noStrike" cap="none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4E93A0-BCDB-C4EF-A157-47B7F923E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783" y="1006098"/>
            <a:ext cx="6004434" cy="425575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MITSoE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6;p8">
            <a:extLst>
              <a:ext uri="{FF2B5EF4-FFF2-40B4-BE49-F238E27FC236}">
                <a16:creationId xmlns:a16="http://schemas.microsoft.com/office/drawing/2014/main" id="{9957FD10-25B6-951A-CE0F-0A310F15E167}"/>
              </a:ext>
            </a:extLst>
          </p:cNvPr>
          <p:cNvSpPr txBox="1"/>
          <p:nvPr/>
        </p:nvSpPr>
        <p:spPr>
          <a:xfrm>
            <a:off x="417094" y="152400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2800"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cs typeface="Times New Roman"/>
                <a:sym typeface="Times New Roman"/>
              </a:rPr>
              <a:t>Results</a:t>
            </a:r>
            <a:endParaRPr lang="en-US" sz="2800" b="0" i="0" u="none" strike="noStrike" cap="none" dirty="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54C95-C8D1-CFC8-1C72-F68FD4CDB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27" y="559159"/>
            <a:ext cx="3547057" cy="2422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8192F-5673-42D4-AEAD-028770D73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435030"/>
            <a:ext cx="3977640" cy="24279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E80DEA-63A2-95BA-BC7D-848CF90F8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3181" y="3037799"/>
            <a:ext cx="4358640" cy="25361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7DC81-BF58-37F3-1433-376D6A49F4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Google Shape;86;p8">
            <a:extLst>
              <a:ext uri="{FF2B5EF4-FFF2-40B4-BE49-F238E27FC236}">
                <a16:creationId xmlns:a16="http://schemas.microsoft.com/office/drawing/2014/main" id="{302F40E5-1F78-CF8D-F1CE-D2F332807306}"/>
              </a:ext>
            </a:extLst>
          </p:cNvPr>
          <p:cNvSpPr txBox="1"/>
          <p:nvPr/>
        </p:nvSpPr>
        <p:spPr>
          <a:xfrm>
            <a:off x="417094" y="152400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2800"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cs typeface="Times New Roman"/>
                <a:sym typeface="Times New Roman"/>
              </a:rPr>
              <a:t>Results</a:t>
            </a:r>
            <a:endParaRPr lang="en-US" sz="2800" b="0" i="0" u="none" strike="noStrike" cap="none" dirty="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41;p13">
            <a:extLst>
              <a:ext uri="{FF2B5EF4-FFF2-40B4-BE49-F238E27FC236}">
                <a16:creationId xmlns:a16="http://schemas.microsoft.com/office/drawing/2014/main" id="{CCA371C1-CDC3-B883-76B9-CCA9F6991CB4}"/>
              </a:ext>
            </a:extLst>
          </p:cNvPr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MITSoE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143;p13">
            <a:extLst>
              <a:ext uri="{FF2B5EF4-FFF2-40B4-BE49-F238E27FC236}">
                <a16:creationId xmlns:a16="http://schemas.microsoft.com/office/drawing/2014/main" id="{6E3F3258-4336-3D67-E293-2FF52C88A28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B51012-0A7C-CD3B-B3D1-45BFFB1E0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440" y="387551"/>
            <a:ext cx="4981343" cy="2318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EEBA40-8542-D137-3D6D-0BA6BCF76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440" y="2940928"/>
            <a:ext cx="4981343" cy="254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1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8CAF3-1A9D-D724-F58C-8D0A8A1DD2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Google Shape;86;p8">
            <a:extLst>
              <a:ext uri="{FF2B5EF4-FFF2-40B4-BE49-F238E27FC236}">
                <a16:creationId xmlns:a16="http://schemas.microsoft.com/office/drawing/2014/main" id="{D2C8850D-B6ED-B6A5-14B8-68C76DF039FA}"/>
              </a:ext>
            </a:extLst>
          </p:cNvPr>
          <p:cNvSpPr txBox="1"/>
          <p:nvPr/>
        </p:nvSpPr>
        <p:spPr>
          <a:xfrm>
            <a:off x="417094" y="152400"/>
            <a:ext cx="80103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2800"/>
            </a:pPr>
            <a:r>
              <a:rPr lang="en-US" sz="2800" b="1" i="0" u="none" strike="noStrike" cap="none" dirty="0">
                <a:solidFill>
                  <a:srgbClr val="073763"/>
                </a:solidFill>
                <a:latin typeface="Times New Roman"/>
                <a:cs typeface="Times New Roman"/>
                <a:sym typeface="Times New Roman"/>
              </a:rPr>
              <a:t>Results</a:t>
            </a:r>
            <a:endParaRPr lang="en-US" sz="2800" b="0" i="0" u="none" strike="noStrike" cap="none" dirty="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41;p13">
            <a:extLst>
              <a:ext uri="{FF2B5EF4-FFF2-40B4-BE49-F238E27FC236}">
                <a16:creationId xmlns:a16="http://schemas.microsoft.com/office/drawing/2014/main" id="{C06690AA-4403-384B-25E6-F662E24B8F68}"/>
              </a:ext>
            </a:extLst>
          </p:cNvPr>
          <p:cNvSpPr txBox="1"/>
          <p:nvPr/>
        </p:nvSpPr>
        <p:spPr>
          <a:xfrm>
            <a:off x="1379346" y="6104088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MITSoE</a:t>
            </a:r>
            <a:r>
              <a:rPr lang="en-US" sz="1800" b="1" i="1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Loni </a:t>
            </a:r>
            <a:r>
              <a:rPr lang="en-US" sz="1800" b="1" i="1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Kalbhor</a:t>
            </a:r>
            <a:endParaRPr sz="1800" b="1" i="1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143;p13">
            <a:extLst>
              <a:ext uri="{FF2B5EF4-FFF2-40B4-BE49-F238E27FC236}">
                <a16:creationId xmlns:a16="http://schemas.microsoft.com/office/drawing/2014/main" id="{97ABFCD2-4BA4-2803-B000-59D56653DB0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6B4C60-6F28-49E2-6B2A-A370F9F772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52" b="4294"/>
          <a:stretch/>
        </p:blipFill>
        <p:spPr>
          <a:xfrm>
            <a:off x="309701" y="587244"/>
            <a:ext cx="2503377" cy="4617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B8761A-8227-4F24-7A97-B05E896CA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055" y="632718"/>
            <a:ext cx="2159889" cy="46700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3A7DCA-8326-22BC-A272-5AE9289F6B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558" y="503424"/>
            <a:ext cx="2213229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23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1792145" y="2374230"/>
            <a:ext cx="53305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883</Words>
  <Application>Microsoft Office PowerPoint</Application>
  <PresentationFormat>On-screen Show (4:3)</PresentationFormat>
  <Paragraphs>144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Times New Roman</vt:lpstr>
      <vt:lpstr>Century Schoolbook</vt:lpstr>
      <vt:lpstr>Calibri</vt:lpstr>
      <vt:lpstr>Arial</vt:lpstr>
      <vt:lpstr>Office Theme</vt:lpstr>
      <vt:lpstr>PeerVerse – A Peer-to-Peer Mentorship Platform Using Modern Web Technologies. 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"Smart AI Wellness Wizard”</dc:title>
  <dc:creator>Hp</dc:creator>
  <cp:lastModifiedBy>Yash Bhardwaj</cp:lastModifiedBy>
  <cp:revision>10</cp:revision>
  <dcterms:created xsi:type="dcterms:W3CDTF">2018-12-06T11:05:22Z</dcterms:created>
  <dcterms:modified xsi:type="dcterms:W3CDTF">2026-01-09T03:19:36Z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2018-12-06T00:00:00Z</vt:filetime>
  </property>
</Properties>
</file>